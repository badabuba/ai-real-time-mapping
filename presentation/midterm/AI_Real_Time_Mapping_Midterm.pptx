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EBEEF0"/>
                </a:solidFill>
                <a:latin typeface="Calibri"/>
              </a:rPr>
              <a:t>Похибка глибини (менше = краще)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DA3 (504)</c:v>
                </c:pt>
              </c:strCache>
            </c:strRef>
          </c:tx>
          <c:spPr>
            <a:solidFill>
              <a:srgbClr val="FFA826"/>
            </a:solidFill>
          </c:spPr>
          <c:cat>
            <c:strRef>
              <c:f>Sheet1!$A$2:$A$3</c:f>
              <c:strCache>
                <c:ptCount val="2"/>
                <c:pt idx="0">
                  <c:v>AbsRel</c:v>
                </c:pt>
                <c:pt idx="1">
                  <c:v>RMSE, 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0.0819</c:v>
                </c:pt>
                <c:pt idx="1">
                  <c:v>0.1626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UniDepth V2</c:v>
                </c:pt>
              </c:strCache>
            </c:strRef>
          </c:tx>
          <c:spPr>
            <a:solidFill>
              <a:srgbClr val="5AA9E6"/>
            </a:solidFill>
          </c:spPr>
          <c:cat>
            <c:strRef>
              <c:f>Sheet1!$A$2:$A$3</c:f>
              <c:strCache>
                <c:ptCount val="2"/>
                <c:pt idx="0">
                  <c:v>AbsRel</c:v>
                </c:pt>
                <c:pt idx="1">
                  <c:v>RMSE, 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0.0827</c:v>
                </c:pt>
                <c:pt idx="1">
                  <c:v>0.1374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1">
                  <a:solidFill>
                    <a:srgbClr val="EBEEF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600">
                <a:solidFill>
                  <a:srgbClr val="EBEE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"/>
          <c:min val="0.0"/>
        </c:scaling>
        <c:delete val="0"/>
        <c:axPos val="l"/>
        <c:majorGridlines>
          <c:spPr>
            <a:ln>
              <a:solidFill>
                <a:srgbClr val="333D4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9AA5B1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EBEEF0"/>
              </a:solidFill>
            </a:defRPr>
          </a:pPr>
        </a:p>
      </c:txPr>
    </c:legend>
    <c:dispBlanksAs val="gap"/>
  </c:chart>
  <c:txPr>
    <a:bodyPr/>
    <a:lstStyle/>
    <a:p>
      <a:pPr>
        <a:defRPr sz="1600">
          <a:solidFill>
            <a:srgbClr val="EBEE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EBEEF0"/>
                </a:solidFill>
                <a:latin typeface="Calibri"/>
              </a:rPr>
              <a:t>p95 latency на кадр, ms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p95, ms</c:v>
                </c:pt>
              </c:strCache>
            </c:strRef>
          </c:tx>
          <c:dPt>
            <c:idx val="0"/>
            <c:spPr>
              <a:solidFill>
                <a:srgbClr val="9AA5B1"/>
              </a:solidFill>
            </c:spPr>
          </c:dPt>
          <c:dPt>
            <c:idx val="1"/>
            <c:spPr>
              <a:solidFill>
                <a:srgbClr val="5AA9E6"/>
              </a:solidFill>
            </c:spPr>
          </c:dPt>
          <c:dPt>
            <c:idx val="2"/>
            <c:spPr>
              <a:solidFill>
                <a:srgbClr val="FFA826"/>
              </a:solidFill>
            </c:spPr>
          </c:dPt>
          <c:dPt>
            <c:idx val="3"/>
            <c:spPr>
              <a:solidFill>
                <a:srgbClr val="8A96A3"/>
              </a:solidFill>
            </c:spPr>
          </c:dPt>
          <c:cat>
            <c:strRef>
              <c:f>Sheet1!$A$2:$A$5</c:f>
              <c:strCache>
                <c:ptCount val="4"/>
                <c:pt idx="0">
                  <c:v>бюджет 30 FPS</c:v>
                </c:pt>
                <c:pt idx="1">
                  <c:v>UniDepth V2</c:v>
                </c:pt>
                <c:pt idx="2">
                  <c:v>DA3 (504)</c:v>
                </c:pt>
                <c:pt idx="3">
                  <c:v>pySLAM track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33.3</c:v>
                </c:pt>
                <c:pt idx="1">
                  <c:v>86.4</c:v>
                </c:pt>
                <c:pt idx="2">
                  <c:v>97.9</c:v>
                </c:pt>
                <c:pt idx="3">
                  <c:v>2312.5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600" b="1">
                  <a:solidFill>
                    <a:srgbClr val="EBEEF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600">
                <a:solidFill>
                  <a:srgbClr val="EBEE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 val="0"/>
        <c:axPos val="b"/>
        <c:majorGridlines>
          <c:spPr>
            <a:ln>
              <a:solidFill>
                <a:srgbClr val="333D4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9AA5B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EBEE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EBEEF0"/>
                </a:solidFill>
                <a:latin typeface="Calibri"/>
              </a:rPr>
              <a:t>A. Основне порівняння карт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Chamfer-L1, м</c:v>
                </c:pt>
              </c:strCache>
            </c:strRef>
          </c:tx>
          <c:dPt>
            <c:idx val="0"/>
            <c:spPr>
              <a:solidFill>
                <a:srgbClr val="8A96A3"/>
              </a:solidFill>
            </c:spPr>
          </c:dPt>
          <c:dPt>
            <c:idx val="1"/>
            <c:spPr>
              <a:solidFill>
                <a:srgbClr val="FFA826"/>
              </a:solidFill>
            </c:spPr>
          </c:dPt>
          <c:dPt>
            <c:idx val="2"/>
            <c:spPr>
              <a:solidFill>
                <a:srgbClr val="C9D3DE"/>
              </a:solidFill>
            </c:spPr>
          </c:dPt>
          <c:cat>
            <c:strRef>
              <c:f>Sheet1!$A$2:$A$4</c:f>
              <c:strCache>
                <c:ptCount val="3"/>
                <c:pt idx="0">
                  <c:v>B0 sparse SLAM</c:v>
                </c:pt>
                <c:pt idx="1">
                  <c:v>P1-global (наш)</c:v>
                </c:pt>
                <c:pt idx="2">
                  <c:v>B1 oracle (GT depth)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0.1377</c:v>
                </c:pt>
                <c:pt idx="1">
                  <c:v>0.0887</c:v>
                </c:pt>
                <c:pt idx="2">
                  <c:v>0.0329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600" b="1">
                  <a:solidFill>
                    <a:srgbClr val="EBEEF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600">
                <a:solidFill>
                  <a:srgbClr val="EBEE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"/>
          <c:min val="0.0"/>
        </c:scaling>
        <c:delete val="0"/>
        <c:axPos val="l"/>
        <c:majorGridlines>
          <c:spPr>
            <a:ln>
              <a:solidFill>
                <a:srgbClr val="333D4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9AA5B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EBEE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EBEEF0"/>
                </a:solidFill>
                <a:latin typeface="Calibri"/>
              </a:rPr>
              <a:t>B. Per-frame anchoring (U-03)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Chamfer-L1, м</c:v>
                </c:pt>
              </c:strCache>
            </c:strRef>
          </c:tx>
          <c:dPt>
            <c:idx val="0"/>
            <c:spPr>
              <a:solidFill>
                <a:srgbClr val="FFA826"/>
              </a:solidFill>
            </c:spPr>
          </c:dPt>
          <c:dPt>
            <c:idx val="1"/>
            <c:spPr>
              <a:solidFill>
                <a:srgbClr val="E5534B"/>
              </a:solidFill>
            </c:spPr>
          </c:dPt>
          <c:cat>
            <c:strRef>
              <c:f>Sheet1!$A$2:$A$3</c:f>
              <c:strCache>
                <c:ptCount val="2"/>
                <c:pt idx="0">
                  <c:v>P1-global</c:v>
                </c:pt>
                <c:pt idx="1">
                  <c:v>per-frame anchored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0.0887</c:v>
                </c:pt>
                <c:pt idx="1">
                  <c:v>0.1051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600" b="1">
                  <a:solidFill>
                    <a:srgbClr val="EBEEF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600">
                <a:solidFill>
                  <a:srgbClr val="EBEE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"/>
          <c:min val="0.0"/>
        </c:scaling>
        <c:delete val="0"/>
        <c:axPos val="l"/>
        <c:majorGridlines>
          <c:spPr>
            <a:ln>
              <a:solidFill>
                <a:srgbClr val="333D4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9AA5B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EBEE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— Проблема і результат (0:00–0:47, Назар)</a:t>
            </a:r>
          </a:p>
          <a:p/>
          <a:p>
            <a:r>
              <a:t>Добрий день, ми — Назар, Ярополк і Юліан. Наша мета — побудувати щільну метричну 3D-карту приміщення лише з монокулярного RGB-відео. Дослідницьке питання: чи допомагає foundation-модель глибини класичному SLAM побудувати повнішу і точнішу карту. Класичний SLAM дає траєкторію камери, але розріджену карту і без метричного масштабу. Моделі глибини дають щільну метричну глибину, але без узгодженої траєкторії. Ми поєднали обидва підходи. Результат: побудовано відтворюваний offline pipeline — RGB, depth і SLAM, щільна 3D-карта. Праворуч — справжня карта з нашого запуску. Важливо одразу: це offline research prototype.</a:t>
            </a:r>
          </a:p>
          <a:p/>
          <a:p>
            <a:r>
              <a:t>ДЖЕРЕЛА: зображення — presentation/midterm/assets/final_dense_map.png, відрендерено scripts/render_midterm_demo.py з run yulian_tum_e2e_f200_20261025_01 (clean 4952e37, status ok); 22 keyframes і 72 887 вокселів — methods/…comparison.global/metrics.json цього run, results/summaries/wp3_wp4_yulian_tum_fr1_xyz_200.json, docs/ROBUST_FUSION.md §4.2. Replay карти побайтово збігається з записаним map.npz.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— Архітектура і внесок (0:48–1:37, Ярополк)</a:t>
            </a:r>
          </a:p>
          <a:p/>
          <a:p>
            <a:r>
              <a:t>Кожен кадр іде двома шляхами. Модель глибини, основна — DA3 Metric, для порівняння UniDepth, дає щільну глибину в метрах. pySLAM дає пози камери, keyframes і розріджену карту, але в довільному масштабі. Alignment оцінює один робастний масштаб між точками SLAM і глибиною моделі, а fusion зливає keyframes у воксельну карту. Ground truth з TUM використовується лише для оцінювання і для явно позначеного oracle B1; у runtime його немає, і це перевіряють тести. Назар відповідає за дані, контракти, моделі глибини, інтеграцію і бенчмарки. Я — за pySLAM, tracking, траєкторію і timing. Юліан — за alignment, fusion, оцінку карти і robust fusion.</a:t>
            </a:r>
          </a:p>
          <a:p/>
          <a:p>
            <a:r>
              <a:t>ДЖЕРЕЛА: docs/ARCHITECTURE.md §1, §4 (Case A, scalar scale), §8; docs/EXPERIMENTS.md §3 (GT лише evaluation або labelled oracle B1); ролі — PLAN.md (WP1 Nazar, WP2 Yaropolk, WP3 Yulian), docs/TWO_PERSON_COMPLETION_PLAN.md §1.1, merged PR #1–#28. GT-free runtime перевіряється import-hygiene тестами (tests/test_import_hygiene_robust.py, tests/test_missing_gt_pose.py).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— Depth і SLAM (1:38–2:31, Назар → Ярополк)</a:t>
            </a:r>
          </a:p>
          <a:p/>
          <a:p>
            <a:r>
              <a:t>[Назар] На development-спліті, 573 кадри, моделі близькі: AbsRel 0.082 у DA3 і 0.083 у UniDepth, а RMSE нижчий у UniDepth — 0.137 метра проти 0.163. На інших метриках і сплітах вони міняються місцями. Основною лишається DA3, бо правило вибору ми зафіксували заздалегідь, а UniDepth тоді не пройшов перевірку в pipeline. Після результатів рішення не змінюємо. Обидві моделі мають p95 86–98 мілісекунд на RTX 5070 Laptop.</a:t>
            </a:r>
          </a:p>
          <a:p>
            <a:r>
              <a:t>[Ярополк] SLAM на тому ж спліті: 430 із 573 кадрів у стані OK, тобто 0.75. ATE — 2 сантиметри, але після Sim(3), лише як оцінка форми траєкторії. Головне — latency: медіана 611 мілісекунд, p95 — 2.3 секунди на кадр при бюджеті 33. Тому real-time ми не заявляємо.</a:t>
            </a:r>
          </a:p>
          <a:p/>
          <a:p>
            <a:r>
              <a:t>ДЖЕРЕЛА: depth — results/summaries/nazar_n05_model_only_0dc5f7f.csv (DA3 504: AbsRel 0.08189, RMSE 0.16258 м, p95 97.87 ms; UniDepth: AbsRel 0.08267, RMSE 0.13735 м, p95 86.42 ms; RTX 5070 Laptop, 640×480 input), docs/DEVELOPMENT_BENCHMARK.md §8; selection (DA3 AbsRel 0.1145 / RMSE 0.4211; UniDepth 0.0646 / 0.4499) — той самий CSV. B0 — results/summaries/nazar_n05_benchmark.json, run nazar_n05_dev573_b0eval_cd64251_01: tracking_success 0.75044 (430/573), final Sim(3) ATE RMSE 0.019530 м, Slam.track warm p50 611.38 / p95 2312.47 ms (Linux Docker, Python core); docs/DEVELOPMENT_BENCHMARK.md §4. D-3: docs/decisions/ADR001_geometry_model.md (N-04 gate fail → DA3 primary). Бюджет 33.3 ms = 1000/30 (D-7). Розбіжність: Y-05 Ярополка (results/summaries/yaropolk_y05_benchmark.csv, інша машина, 3 runs) дає track p95 1221–1339 ms і tracking 0.750–0.766; висновок «offline» той самий. Різниця між runs — також прояв недетермінізму pySLAM.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— Демо (2:33–3:21, Юліан; запустити відео кліком на початку)</a:t>
            </a:r>
          </a:p>
          <a:p/>
          <a:p>
            <a:r>
              <a:t>Це запис справжнього запуску на TUM fr1/xyz, 200 кадрів. Зліва вгорі — вхідний RGB. Праворуч — метрична глибина DA3 у фіксованій шкалі від половини метра до 3.5 метра. Внизу зліва — траєкторія pySLAM, помаранчеві keyframes і розріджені точки. Внизу справа — щільна карта: кожен новий keyframe додає вокселі. Пози SLAM переведено в метри одним масштабом 1.19, який alignment знайшов без GT. У кінці маємо 22 keyframes і 72 887 вокселів по 2 сантиметри, а далі карта обертається. Важливо: відео відрендерене offline з готових артефактів, тож швидкість відтворення — не швидкість обробки. Карта у відео побайтово збігається з картою, записаною цим запуском.</a:t>
            </a:r>
          </a:p>
          <a:p/>
          <a:p>
            <a:r>
              <a:t>ДЖЕРЕЛА: run yulian_tum_e2e_f200_20261025_01 (clean 4952e37, всі stages ok; DA3METRIC-LARGE process_res 384, bfloat16). Відео: scripts/render_midterm_demo.py, presentation/midterm/assets/demo_provenance.json (SHA-256 входів і виходів; replay_equals_recorded_map_npz = true). Tracking state не записаний: run передує Y-01 export; показано лише наявність online pose (197/200 кадрів). Траєкторія — trajectory_online.txt × scale 1.1920834 (alignment.json).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— Карта і негативний результат (3:21–4:10, Юліан)</a:t>
            </a:r>
          </a:p>
          <a:p/>
          <a:p>
            <a:r>
              <a:t>Ліворуч — Chamfer на тому самому smoke-запуску, менше — краще. Розріджений SLAM — 0.138 метра, наша щільна карта — 0.089. Виграш саме в повноті: поточково точки SLAM навіть точніші — 4.9 сантиметра проти 9.2, — але їх лише близько тисячі. B1 — oracle з тими самими позами і масштабом, але з GT-глибиною: 0.033. Отже основний розрив дає помилка глибини моделі. Праворуч — наша спроба покращення: масштабувати глибину кожного кадру за точками SLAM. Узгодженість зі SLAM зросла, але карта погіршилась: Chamfer 0.089 стало 0.105, F-score на 5 сантиметрах 0.48 стало 0.41. Менший residual не означає кращої геометрії, тому anchoring ми відхилили. У найгірших кадрах помилки локальні: людина, краї монітора, далекий фон.</a:t>
            </a:r>
          </a:p>
          <a:p/>
          <a:p>
            <a:r>
              <a:t>ДЖЕРЕЛА: results/summaries/yulian_u03_robust_smoke200_cc7a4d9.csv (run yulian_u03_robust_smoke200_cc7a4d9_01, clean cc7a4d9): Chamfer-L1 B0-shared-scale 0.13774, P1-global control 0.08866, B1-oracle 0.03290, P1-anchored 0.10514; F@5cm 0.47997 → 0.40700; accuracy B0 0.0494 м проти P1-global 0.0924 м, completeness 0.2261 проти 0.0849 м, eval points 1 038 проти 58 569 (тому B0 «точний, але неповний»); P1-global control побайтово = записаному P1-global run yulian_tum_e2e_f200_20261025_01. Withheld residual 0.0388 → 0.0301 м — results/summaries/yulian_u02_anchor_gate_smoke200_2e6fad5.json; висновки — docs/ROBUST_FUSION.md §4.2, §6. Failure cases (кадри 80, 72, 84) — assets/failure_analysis.png, docs/ROBUST_FUSION.md §5. Smoke-спліт — DA3 process_res 384, не frozen 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— Статус і наступний крок (4:12–4:49, Назар)</a:t>
            </a:r>
          </a:p>
          <a:p/>
          <a:p>
            <a:r>
              <a:t>Зроблено: повний offline pipeline, порівняння моделей, SLAM і fusion, baselines, ablations, заморожений протокол, тести і CI. Обмеження: це offline, не 30 FPS; pySLAM повільний і недетермінований; найбільший розрив — у глибині; UniDepth обмежений заздалегідь зафіксованим правилом. Перший held-out запуск зупинився на preflight-перевірці GT ще до SLAM: це помилка перевірки, а не моделі, і метрик він не дав. Виправлення вже змерджене; далі — один дозволений rerun з тим самим конфігом і фінальний аудит демо. Дякуємо!</a:t>
            </a:r>
          </a:p>
          <a:p/>
          <a:p>
            <a:r>
              <a:t>ДЖЕРЕЛА: docs/HELDOUT_BENCHMARK.md (run nazar_n06_heldout2488_da3_e561d8c_01: failed на WP2 preflight, 0 SLAM frames, 0 DA3 inference; results/summaries/nazar_n06_heldout2488_e561d8c.json); fix merged: PR #27 (c08833f) і PR #29 (242c0cb, partial GT coverage при 20 ms); N-06 rerun ще не запускався; docs/BENCHMARK_PROTOCOL.md (IC3 freeze, D-5 rerun); docs/DEVELOPMENT_BENCHMARK.md §5 (UniDepth P1 Chamfer 0.0447 vs DA3 0.1057 на dev; D-3 не переглядається); CI — .github/workflows/tests.yml. Окремо: Y-06 (PR #28) — B0-only SLAM held-out run Ярополка завершився; його числа на слайдах не показуємо, бо повного P1 held-out ще немає (див. README).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hyperlink" Target="assets/mapping_demo.mp4" TargetMode="Externa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9AA5B1"/>
                </a:solidFill>
                <a:latin typeface="Calibri"/>
              </a:rPr>
              <a:t>Real-time Mapping with Foundation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212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EBEEF0"/>
                </a:solidFill>
                <a:latin typeface="Calibri"/>
              </a:rPr>
              <a:t>Щільна метрична 3D-карта з монокулярного RGB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46634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A826"/>
                </a:solidFill>
                <a:latin typeface="Calibri"/>
              </a:rPr>
              <a:t>Побудовано відтворюваний offline pipeline: RGB → depth + SLAM → dense 3D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Learned metric depth (Depth Anything 3)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+ класичний monocular SLAM (pySLAM)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BEEF0"/>
                </a:solidFill>
                <a:latin typeface="Calibri"/>
              </a:rPr>
              <a:t>Назар · Ярополк · Юліан</a:t>
            </a:r>
            <a:r>
              <a:rPr sz="1600" b="0">
                <a:solidFill>
                  <a:srgbClr val="9AA5B1"/>
                </a:solidFill>
                <a:latin typeface="Calibri"/>
              </a:rPr>
              <a:t>     develop @ 242c0cb</a:t>
            </a:r>
          </a:p>
        </p:txBody>
      </p:sp>
      <p:pic>
        <p:nvPicPr>
          <p:cNvPr id="10" name="Picture 9" descr="final_dense_map.png"/>
          <p:cNvPicPr>
            <a:picLocks noChangeAspect="1"/>
          </p:cNvPicPr>
          <p:nvPr/>
        </p:nvPicPr>
        <p:blipFill>
          <a:blip r:embed="rId2"/>
          <a:srcRect t="6944" b="5556"/>
          <a:stretch>
            <a:fillRect/>
          </a:stretch>
        </p:blipFill>
        <p:spPr>
          <a:xfrm>
            <a:off x="5989320" y="914400"/>
            <a:ext cx="5760720" cy="283535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89320" y="4343400"/>
            <a:ext cx="2926080" cy="411480"/>
          </a:xfrm>
          <a:prstGeom prst="roundRect">
            <a:avLst>
              <a:gd name="adj" fmla="val 30000"/>
            </a:avLst>
          </a:prstGeom>
          <a:solidFill>
            <a:srgbClr val="FF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434340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419"/>
                </a:solidFill>
                <a:latin typeface="Calibri"/>
              </a:rPr>
              <a:t>Offline research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9204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5B1"/>
                </a:solidFill>
                <a:latin typeface="Calibri"/>
              </a:rPr>
              <a:t>Реальний результат: TUM RGB-D fr1/xyz, 200 кадрів,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9AA5B1"/>
                </a:solidFill>
                <a:latin typeface="Calibri"/>
              </a:rPr>
              <a:t>22 keyframes, 72 887 вокселів по 2 см (run yulian_tum_e2e_f200_20261025_01)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BEEF0"/>
                </a:solidFill>
                <a:latin typeface="Calibri"/>
              </a:rPr>
              <a:t>Архітектура і внесок команди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2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RGB кадри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monocular, 640×480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188720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FFA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Metric depth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DA3METRIC-LARGE (primary) · UniDepth V2 (порівняння)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926080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40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pySLAM monocular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пози, keyframes, sparse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1691640" cy="100584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Alignment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robust global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10312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Dense fusion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voxel 2 см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2103120"/>
            <a:ext cx="1417320" cy="100584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3D map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метри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4747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242E39"/>
          </a:solidFill>
          <a:ln w="254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EBEEF0"/>
                </a:solidFill>
                <a:latin typeface="Calibri"/>
              </a:rPr>
              <a:t>Evaluation з GT (TUM)</a:t>
            </a:r>
          </a:p>
          <a:p>
            <a:pPr algn="ctr"/>
            <a:r>
              <a:rPr sz="1600" b="0">
                <a:solidFill>
                  <a:srgbClr val="9AA5B1"/>
                </a:solidFill>
                <a:latin typeface="Calibri"/>
              </a:rPr>
              <a:t>лише оцінка: ATE, AbsRel, Chamfer, F‑score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48840" y="1737360"/>
            <a:ext cx="548640" cy="68580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48840" y="2788920"/>
            <a:ext cx="548640" cy="68580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1737360"/>
            <a:ext cx="457200" cy="68580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15000" y="2788920"/>
            <a:ext cx="457200" cy="68580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2606040"/>
            <a:ext cx="411480" cy="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2606040"/>
            <a:ext cx="365760" cy="0"/>
          </a:xfrm>
          <a:prstGeom prst="line">
            <a:avLst/>
          </a:prstGeom>
          <a:ln w="285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45368" y="3108960"/>
            <a:ext cx="0" cy="365760"/>
          </a:xfrm>
          <a:prstGeom prst="line">
            <a:avLst/>
          </a:prstGeom>
          <a:ln w="28575">
            <a:solidFill>
              <a:srgbClr val="9AA5B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6177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FFA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A826"/>
                </a:solidFill>
                <a:latin typeface="Calibri"/>
              </a:rPr>
              <a:t>Назар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BEEF0"/>
                </a:solidFill>
                <a:latin typeface="Calibri"/>
              </a:rPr>
              <a:t>датасет і контракти, depth adapters, вибір моделі, інтеграція, бенчмарки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6177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40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70916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0C4B4"/>
                </a:solidFill>
                <a:latin typeface="Calibri"/>
              </a:rPr>
              <a:t>Ярополк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1206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BEEF0"/>
                </a:solidFill>
                <a:latin typeface="Calibri"/>
              </a:rPr>
              <a:t>pySLAM, tracking, траєкторія, timing, SLAM-бенчмарк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6177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470916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AA9E6"/>
                </a:solidFill>
                <a:latin typeface="Calibri"/>
              </a:rPr>
              <a:t>Юліан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51206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BEEF0"/>
                </a:solidFill>
                <a:latin typeface="Calibri"/>
              </a:rPr>
              <a:t>alignment, fusion, оцінка карти, robust-fusion дослідження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BEEF0"/>
                </a:solidFill>
                <a:latin typeface="Calibri"/>
              </a:rPr>
              <a:t>Depth і SLAM: якість моделей близька, latency — ні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Development: TUM fr1/desk, 573 кадри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54864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325880"/>
          <a:ext cx="53949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5488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BEEF0"/>
                </a:solidFill>
                <a:latin typeface="Calibri"/>
              </a:rPr>
              <a:t>430 / 573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кадрів tracked (0.750)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75488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48006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BEEF0"/>
                </a:solidFill>
                <a:latin typeface="Calibri"/>
              </a:rPr>
              <a:t>0.0195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ATE після Sim(3), лише оцінка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475488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48006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BEEF0"/>
                </a:solidFill>
                <a:latin typeface="Calibri"/>
              </a:rPr>
              <a:t>611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SLAM track, медіана на кадр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A826"/>
                </a:solidFill>
                <a:latin typeface="Calibri"/>
              </a:rPr>
              <a:t>DA3 — primary за правилом D‑3 · SLAM домінує в latency → не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BEEF0"/>
                </a:solidFill>
                <a:latin typeface="Calibri"/>
              </a:rPr>
              <a:t>Демо: від RGB до щільної карти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4 / 6</a:t>
            </a:r>
          </a:p>
        </p:txBody>
      </p:sp>
      <p:pic>
        <p:nvPicPr>
          <p:cNvPr id="5" name="mapping_dem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43000"/>
            <a:ext cx="8229600" cy="4629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98280" y="1143000"/>
            <a:ext cx="2606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A826"/>
                </a:solidFill>
                <a:latin typeface="Calibri"/>
              </a:rPr>
              <a:t>Що на відео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EBEEF0"/>
                </a:solidFill>
                <a:latin typeface="Calibri"/>
              </a:rPr>
              <a:t>RGB → depth DA3 → траєкторія pySLAM → карта росте з keyframes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EBEEF0"/>
                </a:solidFill>
                <a:latin typeface="Calibri"/>
              </a:rPr>
              <a:t>22 keyframes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EBEEF0"/>
                </a:solidFill>
                <a:latin typeface="Calibri"/>
              </a:rPr>
              <a:t>72 887 вокселів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FFA826"/>
                </a:solidFill>
                <a:latin typeface="Calibri"/>
              </a:rPr>
              <a:t>Rendered offline: швидкість відео ≠ швидкість обробки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5B1"/>
                </a:solidFill>
                <a:latin typeface="Calibri"/>
              </a:rPr>
              <a:t/>
            </a:r>
            <a:r>
              <a:rPr sz="1400">
                <a:solidFill>
                  <a:srgbClr val="9AA5B1"/>
                </a:solidFill>
                <a:latin typeface="Calibri"/>
                <a:hlinkClick r:id="rId5"/>
              </a:rPr>
              <a:t>Резерв: assets/mapping_demo.mp4 (31 с) · run yulian_tum_e2e_f200_20261025_01 (4952e37)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BEEF0"/>
                </a:solidFill>
                <a:latin typeface="Calibri"/>
              </a:rPr>
              <a:t>Карта: dense &gt; sparse; per-frame anchoring відхилено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Smoke: TUM fr1/xyz, 200 кадрів, 22 keyframes, DA3 (384) · Chamfer-L1, м — менше = краще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1371600"/>
          <a:ext cx="530352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Dense краща за sparse (виграш у повноті)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B1: ті самі пози і scale + GT depth → розрив = помилка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F@5 см: 0.480 → 0.407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Узгодженість зі SLAM ↑, точність карти ↓ → відхилено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BEEF0"/>
                </a:solidFill>
                <a:latin typeface="Calibri"/>
              </a:rPr>
              <a:t>Статус, обмеження і наступний крок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Offline research prototype · UCU · Real-time Mapping with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6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5029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40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0C4B4"/>
                </a:solidFill>
                <a:latin typeface="Calibri"/>
              </a:rPr>
              <a:t>Зроблено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108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End-to-end offline pipeline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Порівняння depth‑моделей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SLAM + dense fusion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Baselines B0/B1 і ablations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Protocol freeze (IC3)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Manifests, run.json, tests, 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188720"/>
            <a:ext cx="3520440" cy="5029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3258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5534B"/>
                </a:solidFill>
                <a:latin typeface="Calibri"/>
              </a:rPr>
              <a:t>Обмеження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1920240"/>
            <a:ext cx="3108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Offline, не 30 FPS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pySLAM: недетермінізм, висока latency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Depth — найбільший розрив якості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UniDepth обмежений правилом D‑3, зафіксованим заздалегідь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Перший held‑out запуск зупинився на preflight, без метрик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188720"/>
            <a:ext cx="3520440" cy="5029200"/>
          </a:xfrm>
          <a:prstGeom prst="roundRect">
            <a:avLst>
              <a:gd name="adj" fmla="val 6000"/>
            </a:avLst>
          </a:prstGeom>
          <a:solidFill>
            <a:srgbClr val="1B232C"/>
          </a:solidFill>
          <a:ln w="25400">
            <a:solidFill>
              <a:srgbClr val="FFA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3258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A826"/>
                </a:solidFill>
                <a:latin typeface="Calibri"/>
              </a:rPr>
              <a:t>Далі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108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Preflight fix уже merged (PR #27, #29)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Один дозволений held‑out rerun із тим самим frozen config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Фінальний demo / integration audit</a:t>
            </a:r>
          </a:p>
          <a:p>
            <a:pPr algn="l"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EBEEF0"/>
                </a:solidFill>
                <a:latin typeface="Calibri"/>
              </a:rPr>
              <a:t>Новий протокол може переглянути UniDepth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A826"/>
      </a:hlink>
      <a:folHlink>
        <a:srgbClr val="FFA82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Mapping with Foundation Models: проміжна презентація</dc:title>
  <dc:subject/>
  <dc:creator>Назар, Ярополк, Юліан</dc:creator>
  <cp:keywords/>
  <dc:description>origin/develop 242c0cb; offline research prototype</dc:description>
  <cp:lastModifiedBy>Юліан</cp:lastModifiedBy>
  <cp:revision>1</cp:revision>
  <dcterms:created xsi:type="dcterms:W3CDTF">2026-10-25T00:00:00Z</dcterms:created>
  <dcterms:modified xsi:type="dcterms:W3CDTF">2026-10-25T00:00:00Z</dcterms:modified>
  <cp:category/>
</cp:coreProperties>
</file>